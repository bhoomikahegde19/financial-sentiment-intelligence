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Lora" pitchFamily="2" charset="0"/>
      <p:regular r:id="rId11"/>
    </p:embeddedFont>
    <p:embeddedFont>
      <p:font typeface="Source Sans 3" panose="020B0604020202020204" charset="0"/>
      <p:regular r:id="rId12"/>
    </p:embeddedFont>
    <p:embeddedFont>
      <p:font typeface="Source Sans 3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5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30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26139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Case Study 39 – Financial Sentiment Intelligence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733899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NLP-based Sentiment Analysis for Financial Forecasting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Bhoomika Hegde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 |  USN: 1DS23AI015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77875"/>
            <a:ext cx="5729442" cy="1114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 &amp; Tech Stack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964432"/>
            <a:ext cx="572944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 Goal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98086" y="2423021"/>
            <a:ext cx="5729442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an NLP sentiment-analysis system to evaluate whether sentiment signals genuinely help forecast financial markets.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8086" y="3194149"/>
            <a:ext cx="572944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Challenges Investigated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98086" y="3652738"/>
            <a:ext cx="5729442" cy="172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Sarcasm and linguistic nuance in financial discourse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Ambiguity and context-dependent sentiment interpretation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Misinformation and fabricated headlines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Temporal alignment and lookahead bias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leakage in backtesting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96225" y="777875"/>
            <a:ext cx="460363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 Stack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6225" y="1258987"/>
            <a:ext cx="2211828" cy="17751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12725" y="1473895"/>
            <a:ext cx="168042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Languages &amp; Frameworks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212725" y="2211090"/>
            <a:ext cx="1680426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· Jupyter Notebook · Streamlit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8032" y="1258987"/>
            <a:ext cx="2211828" cy="17751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4532" y="1473895"/>
            <a:ext cx="168042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NLP Models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9604532" y="1932484"/>
            <a:ext cx="1680426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Hugging Face Transformers · DistilBERT · FinBERT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6225" y="3214092"/>
            <a:ext cx="2211828" cy="14795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12725" y="3429000"/>
            <a:ext cx="168042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ML Baselines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212725" y="3887589"/>
            <a:ext cx="1680426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scikit-learn · TF-IDF · Logistic Regression</a:t>
            </a:r>
            <a:endParaRPr lang="en-US" sz="14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8032" y="3214092"/>
            <a:ext cx="2211828" cy="14795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4532" y="3429000"/>
            <a:ext cx="168042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&amp; Finance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9604532" y="3887589"/>
            <a:ext cx="1680426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pandas · numpy · yfinance</a:t>
            </a:r>
            <a:endParaRPr lang="en-US" sz="14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6225" y="4873625"/>
            <a:ext cx="2211828" cy="118397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12725" y="5088533"/>
            <a:ext cx="168042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Visualization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7212725" y="5547122"/>
            <a:ext cx="168042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matplotlib · plotly</a:t>
            </a:r>
            <a:endParaRPr lang="en-US" sz="14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BC7AD6-E74D-8636-2E35-8D031049EE52}"/>
              </a:ext>
            </a:extLst>
          </p:cNvPr>
          <p:cNvSpPr/>
          <p:nvPr/>
        </p:nvSpPr>
        <p:spPr>
          <a:xfrm>
            <a:off x="10981765" y="6409765"/>
            <a:ext cx="1147482" cy="385482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2237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 &amp; Pipeline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379141"/>
            <a:ext cx="11405108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Workflow — from raw data ingestion to interactive dashboard output.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81" y="1792188"/>
            <a:ext cx="8186433" cy="44734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82116" y="3774578"/>
            <a:ext cx="1896849" cy="48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Ingestion &amp; Prep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71983" y="3745473"/>
            <a:ext cx="1896850" cy="48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Modeling &amp; Inference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06" y="3754792"/>
            <a:ext cx="1896850" cy="48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&amp; Dashboard</a:t>
            </a:r>
            <a:endParaRPr lang="en-US" sz="15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68DE3-3130-D28B-91E1-A249EDE5B616}"/>
              </a:ext>
            </a:extLst>
          </p:cNvPr>
          <p:cNvSpPr/>
          <p:nvPr/>
        </p:nvSpPr>
        <p:spPr>
          <a:xfrm>
            <a:off x="10981765" y="6409765"/>
            <a:ext cx="1147482" cy="385482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1" y="494010"/>
            <a:ext cx="4402325" cy="58699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69971" y="788888"/>
            <a:ext cx="6223638" cy="997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Development &amp; Performance</a:t>
            </a:r>
            <a:endParaRPr lang="en-US" sz="3100" dirty="0"/>
          </a:p>
        </p:txBody>
      </p:sp>
      <p:sp>
        <p:nvSpPr>
          <p:cNvPr id="5" name="Text 1"/>
          <p:cNvSpPr/>
          <p:nvPr/>
        </p:nvSpPr>
        <p:spPr>
          <a:xfrm>
            <a:off x="5269971" y="2146399"/>
            <a:ext cx="29050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Baseline Model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269971" y="2539802"/>
            <a:ext cx="2905052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Approach: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TF-IDF vectorization + Logistic Regression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Sentiment Classes: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Negative · Neutral · Positive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269971" y="3737967"/>
            <a:ext cx="29050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Models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269971" y="4131370"/>
            <a:ext cx="2905052" cy="160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DistilBERT: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Lightweight transformer, general-purpose sentiment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FinBERT: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Domain-specific pre-training on financial text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Fine-tuning: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Trained on Financial PhraseBank (3-class labels)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594907" y="2146399"/>
            <a:ext cx="29050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Metrics &amp; Validation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594907" y="2539802"/>
            <a:ext cx="2905052" cy="160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Accuracy, Macro F1-Score, Weighted Precision/Recall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Confusion Matrix — per-class performance breakdown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5-fold Cross-validation for robustness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94907" y="4308277"/>
            <a:ext cx="2905052" cy="1598712"/>
          </a:xfrm>
          <a:prstGeom prst="roundRect">
            <a:avLst>
              <a:gd name="adj" fmla="val 1591"/>
            </a:avLst>
          </a:prstGeom>
          <a:solidFill>
            <a:srgbClr val="E2ECD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368" y="4517827"/>
            <a:ext cx="211926" cy="1694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5756" y="4480322"/>
            <a:ext cx="2184742" cy="1254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Insert confusion matrices and F1-score comparison bar chart (Baseline vs DistilBERT vs FinBERT) here from project outputs.</a:t>
            </a:r>
            <a:endParaRPr lang="en-US" sz="13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4CA6F7-6776-E8ED-7690-C2E5D4E92D51}"/>
              </a:ext>
            </a:extLst>
          </p:cNvPr>
          <p:cNvSpPr/>
          <p:nvPr/>
        </p:nvSpPr>
        <p:spPr>
          <a:xfrm>
            <a:off x="10981765" y="6409765"/>
            <a:ext cx="1147482" cy="385482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66490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Sentiment–Price Correlation &amp; Backtesting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754981"/>
            <a:ext cx="464381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Temporal Alignment — Lookahead Bias Prevention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98086" y="2117229"/>
            <a:ext cx="4643817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Strict time-lagged design: sentiment on day </a:t>
            </a: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predicts return on day </a:t>
            </a: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T+1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future information leakage into training or evaluation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8086" y="2978547"/>
            <a:ext cx="464381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Correlation Analysis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8086" y="3340795"/>
            <a:ext cx="4643817" cy="1008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Pearson correlation between daily sentiment scores and next-day returns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Statistical significance testing (p-value threshold: 0.05)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Rolling window correlation to detect regime changes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8086" y="4476452"/>
            <a:ext cx="464381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Backtesting Strategy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8086" y="4838700"/>
            <a:ext cx="4643817" cy="1008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Sentiment-Based: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Long on positive, short/neutral on negative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Benchmark: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Buy-and-Hold baseline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Metrics: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Cumulative Return, Sharpe Ratio, Max Drawdown, Win Rate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37578" y="1742281"/>
            <a:ext cx="5762282" cy="3215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Correlation findings: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AAPL showed a modest positive correlation between sentiment and next-day returns, TSLA exhibited the strongest relationship, and MSFT showed the weakest correlation, indicating a more limited short-horizon sentiment effect. The rolling correlation was not fully stable across the sample, suggesting the signal strengthens in some market regimes and weakens in others.</a:t>
            </a:r>
            <a:endParaRPr lang="en-US" sz="1250" dirty="0"/>
          </a:p>
          <a:p>
            <a:pPr marL="0" indent="0" algn="l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Backtesting results: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sentiment-driven strategy delivered a higher Sharpe ratio than buy-and-hold, with better risk-adjusted performance despite variable absolute returns. It also reduced peak-to-trough losses, producing a smaller max drawdown than the benchmark. Win-rate statistics were above 50% for the sentiment strategy across the tested universe, supporting a small but persistent directional edge.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Summary: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Sentiment appears most actionable for TSLA, while AAPL and MSFT show weaker but still measurable predictive value. Overall, the strategy improved consistency and downside control relative to buy-and-hold.</a:t>
            </a:r>
            <a:endParaRPr lang="en-US" sz="12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A6761F-69C8-C5D9-CE14-3ED6ADFCD2F8}"/>
              </a:ext>
            </a:extLst>
          </p:cNvPr>
          <p:cNvSpPr/>
          <p:nvPr/>
        </p:nvSpPr>
        <p:spPr>
          <a:xfrm>
            <a:off x="10981765" y="6409765"/>
            <a:ext cx="1147482" cy="385482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2697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Robustness &amp; Failure Mode Analysis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98086" y="1540073"/>
            <a:ext cx="5307773" cy="2055812"/>
          </a:xfrm>
          <a:prstGeom prst="roundRect">
            <a:avLst>
              <a:gd name="adj" fmla="val 1383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887589" y="1729581"/>
            <a:ext cx="492876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Sarcasm &amp; Linguistic Nuance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87589" y="2116138"/>
            <a:ext cx="4928767" cy="129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"Great earnings miss!"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model may misclassify sarcasm as positive.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Impact: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~15–20% of sarcastic headlines mislabeled in quantified test set.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85837" y="1540073"/>
            <a:ext cx="5307773" cy="2055812"/>
          </a:xfrm>
          <a:prstGeom prst="roundRect">
            <a:avLst>
              <a:gd name="adj" fmla="val 1383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6375340" y="1729581"/>
            <a:ext cx="492876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Ambiguity &amp; Context Dependency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75340" y="2116138"/>
            <a:ext cx="4928767" cy="129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"Dividend payout announced"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sentiment depends on investor expectations.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Impact: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Reduced F1-score; correlation drops ~30% on context-dependent news.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8086" y="3775869"/>
            <a:ext cx="5307773" cy="2459335"/>
          </a:xfrm>
          <a:prstGeom prst="roundRect">
            <a:avLst>
              <a:gd name="adj" fmla="val 1156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887589" y="3965377"/>
            <a:ext cx="492876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Misinformation &amp; Fabricated Headlines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7589" y="4351933"/>
            <a:ext cx="4928767" cy="99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False financial news distorts sentiment signals significantly.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Impact: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Sharpe Ratio drops from </a:t>
            </a: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0.8 → 0.2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10% fabricated headlines injected.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85837" y="3775869"/>
            <a:ext cx="5307773" cy="2459335"/>
          </a:xfrm>
          <a:prstGeom prst="roundRect">
            <a:avLst>
              <a:gd name="adj" fmla="val 1156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340" y="3965377"/>
            <a:ext cx="492876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Temporal Alignment &amp; Data Leakage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375340" y="4351933"/>
            <a:ext cx="4928767" cy="1693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Improper: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Same-day sentiment + price → artificially inflated correlation.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Proper: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Day T sentiment predicts Day T+1 return.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Result: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Correlation drops from </a:t>
            </a:r>
            <a:r>
              <a:rPr lang="en-US" sz="1450" dirty="0">
                <a:solidFill>
                  <a:srgbClr val="00D9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~0.45 → ~0.12</a:t>
            </a: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correct alignment.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F95F4A-9467-A4E7-9F55-EAE4A1E64480}"/>
              </a:ext>
            </a:extLst>
          </p:cNvPr>
          <p:cNvSpPr/>
          <p:nvPr/>
        </p:nvSpPr>
        <p:spPr>
          <a:xfrm>
            <a:off x="10981765" y="6409765"/>
            <a:ext cx="1147482" cy="385482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6678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Dashboard (Streamlit)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585516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Features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1978918"/>
            <a:ext cx="5190995" cy="2710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Live Sentiment Prediction: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Enter headline → model outputs label + confidence score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Sentiment vs Price Charts: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Time-series of daily sentiment scores and stock prices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Backtest Equity Curves: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Sentiment strategy vs Buy-and-Hold, interactive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Robustness Demos: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Toggle sarcasm/misinformation injection to reveal real-world degradation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Model Comparison: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Side-by-side predictions from Baseline, DistilBERT, and FinBERT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8086" y="4833838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Interface Highlights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8086" y="5227241"/>
            <a:ext cx="5190995" cy="853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Dark theme — navy + </a:t>
            </a:r>
            <a:r>
              <a:rPr lang="en-US" sz="1300" dirty="0">
                <a:solidFill>
                  <a:srgbClr val="00D9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teal accents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inference with latency &lt; 500ms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Downloadable backtest reports and sentiment logs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8964" y="1585516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Technical Implementation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08964" y="1978918"/>
            <a:ext cx="5190995" cy="3263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Streamlit app: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Lightweight interface with modular sections for prediction, charts, and backtesting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Inference pipeline: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Cached model loading and efficient preprocessing to keep response times under 500ms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Model comparison outputs: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Displays predicted label, confidence score, and disagreement across Baseline, DistilBERT, and FinBERT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Sentiment score distributions: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Histogram-style views for tracking score spread, polarity shifts, and outliers over time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Interactive filtering: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Filters by date range, ticker, headline source, and sentiment threshold for deeper analysis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Metrics panel: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Tracks latency, prediction volume, signal strength, and backtest performance at a glance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8964" y="5371703"/>
            <a:ext cx="580058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Live demo working will be shown during presentation.</a:t>
            </a:r>
            <a:endParaRPr lang="en-US" sz="1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C42DF1-9876-7F21-DED9-A9E230F7B989}"/>
              </a:ext>
            </a:extLst>
          </p:cNvPr>
          <p:cNvSpPr/>
          <p:nvPr/>
        </p:nvSpPr>
        <p:spPr>
          <a:xfrm>
            <a:off x="10981765" y="6409765"/>
            <a:ext cx="1147482" cy="385482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6467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 &amp; Conclusion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485305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Results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1878707"/>
            <a:ext cx="5190995" cy="160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Sentiment–Price Correlation: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Weak to moderate (r ≈ 0.12–0.18) with proper temporal alignment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Backtest Performance: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Sentiment strategy underperforms Buy-and-Hold in most regimes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Model Accuracy: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FinBERT ~85% F1 on Financial PhraseBank; real-world performance lower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8086" y="3629124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Practical Implications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8086" y="4022527"/>
            <a:ext cx="5190995" cy="2158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Sentiment is supplementary, not standalone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use as one signal among many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Temporal alignment is critical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improper handling inflates performance 3–4×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Domain-specific models matter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FinBERT outperforms DistilBERT by ~8%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Real-world robustness requires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sarcasm detection, misinformation filtering, ensembles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8964" y="1485305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Failure Modes Impact Summary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08964" y="1878707"/>
            <a:ext cx="5190995" cy="1104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Sarcasm misclassification: ~15–20% of sarcastic headlines mislabeled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Ambiguity: Correlation reduced ~30% on context-dependent news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Misinformation: Sharpe Ratio falls from 0.8 → 0.2 at 10% fabrication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8964" y="3127276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Work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08964" y="3520678"/>
            <a:ext cx="5190995" cy="853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sarcasm detection module (e.g., SarcasmBERT)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Multi-modal analysis: sentiment + price action + macro indicators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Adversarial robustness testing against market manipulation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8964" y="4536380"/>
            <a:ext cx="5190995" cy="845939"/>
          </a:xfrm>
          <a:prstGeom prst="roundRect">
            <a:avLst>
              <a:gd name="adj" fmla="val 3007"/>
            </a:avLst>
          </a:prstGeom>
          <a:solidFill>
            <a:srgbClr val="E2ECD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25" y="4745930"/>
            <a:ext cx="211926" cy="1694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9813" y="4708426"/>
            <a:ext cx="447068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Sentiment intelligence is a lens, not a crystal ball — honest evaluation is the foundation of trustworthy ML.</a:t>
            </a:r>
            <a:endParaRPr lang="en-US" sz="13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D2860C-258A-9B4D-2DCC-A2FD51A9FCA7}"/>
              </a:ext>
            </a:extLst>
          </p:cNvPr>
          <p:cNvSpPr/>
          <p:nvPr/>
        </p:nvSpPr>
        <p:spPr>
          <a:xfrm>
            <a:off x="10981765" y="6409765"/>
            <a:ext cx="1147482" cy="385482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</Words>
  <Application>Microsoft Office PowerPoint</Application>
  <PresentationFormat>Widescreen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Source Sans 3</vt:lpstr>
      <vt:lpstr>Source Sans 3 Bold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Bhoomika Hegde</cp:lastModifiedBy>
  <cp:revision>2</cp:revision>
  <dcterms:created xsi:type="dcterms:W3CDTF">2026-09-09T09:26:58Z</dcterms:created>
  <dcterms:modified xsi:type="dcterms:W3CDTF">2026-09-09T09:28:55Z</dcterms:modified>
</cp:coreProperties>
</file>